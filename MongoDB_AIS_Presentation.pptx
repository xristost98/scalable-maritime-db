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9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550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dirty="0" err="1"/>
              <a:t>Αφφςαςεφ</a:t>
            </a:r>
            <a:r>
              <a:rPr lang="el-GR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7243-7D21-C7B8-44C5-22B99747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D3D3E-EB5B-F004-0093-647AF29D0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868658-8800-3D69-C3D6-4D0450A66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8F56F-C016-0520-DC43-5201613B1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16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E473C-815E-58B6-04F2-5F702194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494A8-11E9-F78E-CE6B-E516665E8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11CDE-B1F5-15E9-A6F3-218F74265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AD75A-E8CE-3AF7-7F07-753A0ED3B6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2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Σχεδιασμός και Υλοποίηση Κλιμακώσιμου Συστήματος Διαχείρισης Χωροχρονικών Ναυτιλιακών Δεδομένων (AIS) στη MongoDB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</a:rPr>
              <a:t>Χρήστος Τσάμης</a:t>
            </a:r>
            <a:r>
              <a:rPr lang="el-GR" sz="1800" dirty="0">
                <a:solidFill>
                  <a:srgbClr val="CADCFC"/>
                </a:solidFill>
              </a:rPr>
              <a:t> Α.Μ. </a:t>
            </a:r>
            <a:r>
              <a:rPr lang="en-GB" sz="1800" dirty="0">
                <a:solidFill>
                  <a:srgbClr val="CADCFC"/>
                </a:solidFill>
              </a:rPr>
              <a:t>me25038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Πανεπιστήμιο Πειραιώς | Τμήμα Ψηφιακών Συστημάτων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Φεβρουάριος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Πρόβλημα &amp; Στόχοι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Τα δεδομένα AIS παράγονται με ταχύτατους ρυθμούς και είναι τεράστια σε όγκο. Η απλή αποθήκευση δεν προσφέρει επαρκή πληροφορία για κατανόηση της συμπεριφοράς πλοίων.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1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2011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Απαιτείται εμπλουτισμός με μετεωρολογικά δεδομένα για ουσιαστικά συμπεράσματα (π.χ. επίδραση ανέμου στην ταχύτητα).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5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Στόχος Εργασίας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</a:rPr>
              <a:t>Σχεδιασμός και υλοποίηση μη σχεσιακής βάσης (MongoDB) για διαχείριση μεγάλου όγκου χωροχρονικών δεδομένων με ακριβή χωροχρονική συσχέτιση (Spatio-Temporal Join) μεταξύ AIS και μετεωρολογικών δεδομένων.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Σύνολα Δεδομένων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AIS Dynamic Data (CSV)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Timestamp (t)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Geospatial (lon, lat)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Speed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Heading/Course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MMSI (vessel_id)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347472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AIS Static Data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(CSV)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Country/Flag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Ship Type Codes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•Ship 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34747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3" name="Shape 11"/>
          <p:cNvSpPr/>
          <p:nvPr/>
        </p:nvSpPr>
        <p:spPr>
          <a:xfrm>
            <a:off x="6126480" y="914400"/>
            <a:ext cx="73152" cy="3474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6309360" y="1097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NOAA Weather Data</a:t>
            </a:r>
          </a:p>
          <a:p>
            <a:r>
              <a:rPr lang="en-US" b="1" dirty="0">
                <a:solidFill>
                  <a:srgbClr val="065A82"/>
                </a:solidFill>
              </a:rPr>
              <a:t>(Shapefile format)</a:t>
            </a:r>
          </a:p>
        </p:txBody>
      </p:sp>
      <p:sp>
        <p:nvSpPr>
          <p:cNvPr id="15" name="Text 13"/>
          <p:cNvSpPr/>
          <p:nvPr/>
        </p:nvSpPr>
        <p:spPr>
          <a:xfrm>
            <a:off x="6309360" y="155448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Temperature (TMP)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Pressure (PRMSL)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Humidity (RH)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• Wind Speed (WSPD)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~937 MB δεδομένων (Αύγουστος 2017)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Αρχιτεκτονική Συστήματος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058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515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1. Dockerized Environment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71600" y="141732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Φορητότητα και ανεξαρτησία από λειτουργικό σύστημα. Ορισμός βιβλιοθηκών (pandas, geopandas, pymongo, rtree, scipy).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10312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148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2. Chunking Strategy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371600" y="251460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Επεξεργασία δεδομένων σε τμήματα των 10</a:t>
            </a:r>
            <a:r>
              <a:rPr lang="el-GR" sz="1400" dirty="0">
                <a:solidFill>
                  <a:srgbClr val="1E293B"/>
                </a:solidFill>
              </a:rPr>
              <a:t>.</a:t>
            </a:r>
            <a:r>
              <a:rPr lang="en-US" sz="1400" dirty="0">
                <a:solidFill>
                  <a:srgbClr val="1E293B"/>
                </a:solidFill>
              </a:rPr>
              <a:t>000 εγγραφών για αποφυγή υπερχείλισης μνήμης.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0040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3. ETL Pipeline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371600" y="361188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Τριών σταδίων: α) Χρονικό Φιλτράρισμα β) Γεωχωρικός Γείτονας (Geopandas, R-tree) </a:t>
            </a:r>
            <a:endParaRPr lang="el-GR" sz="14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</a:rPr>
              <a:t>γ) Χρονική Ελαχιστοποίηση.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Text 9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</a:rPr>
              <a:t>Bucket Pattern: Ομαδοποίηση σε χρονικά buckets των 6 ωρών με περιορισμό 1</a:t>
            </a:r>
            <a:r>
              <a:rPr lang="el-GR" sz="1400" b="1" dirty="0">
                <a:solidFill>
                  <a:srgbClr val="065A82"/>
                </a:solidFill>
              </a:rPr>
              <a:t>.</a:t>
            </a:r>
            <a:r>
              <a:rPr lang="en-US" sz="1400" b="1" dirty="0">
                <a:solidFill>
                  <a:srgbClr val="065A82"/>
                </a:solidFill>
              </a:rPr>
              <a:t>000 σημείων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Διαδικασία ETL &amp; Χωροχρονική Συσχέτιση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686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9144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Αλγόριθμος Τριών Σταδίων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Στάδιο 1: Χρονικό Φιλτράρισμα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Επιλογή μετεωρολογικών εγγραφών εντός χρονικού παραθύρου ±3 ωρών από κάθε στίγμα AIS. Μείωση υποψήφιων εγγραφών για γρηγορότερη επεξεργασία.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2" name="Text 9"/>
          <p:cNvSpPr/>
          <p:nvPr/>
        </p:nvSpPr>
        <p:spPr>
          <a:xfrm>
            <a:off x="640080" y="2697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Στάδιο 2: Γεωχωρικός Γείτονας (R-tree Spatial Index)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Χρήση R-tree για εύρεση κοντινότερων μετεωρολογικών σημείων (nearest neighbor search). Αποφυγή υπολογισμού αποστάσεων για όλα τα σημεία του πλέγματος.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5" name="Shape 12"/>
          <p:cNvSpPr/>
          <p:nvPr/>
        </p:nvSpPr>
        <p:spPr>
          <a:xfrm>
            <a:off x="457200" y="3566160"/>
            <a:ext cx="73152" cy="8229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6" name="Text 13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Στάδιο 3: Χρονική Ελαχιστοποίηση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Επιλογή του γεωχωρικά κοντινότερου σημείου με την ελάχιστη χρονική απόκλιση. Διασφάλιση ακριβούς αντιστοίχισης χωροχρονικών συνθηκών.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9" name="Text 1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Αποτέλεσμα: Ακριβής συσχέτιση καιρικών συνθηκών με θέσεις πλοίων, εξαλείφοντας λανθασμένες γεωγραφικές συσχετίσεις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5">
            <a:extLst>
              <a:ext uri="{FF2B5EF4-FFF2-40B4-BE49-F238E27FC236}">
                <a16:creationId xmlns:a16="http://schemas.microsoft.com/office/drawing/2014/main" id="{F6E0FB0E-A4E9-DA63-D8C9-816656C80397}"/>
              </a:ext>
            </a:extLst>
          </p:cNvPr>
          <p:cNvSpPr/>
          <p:nvPr/>
        </p:nvSpPr>
        <p:spPr>
          <a:xfrm>
            <a:off x="822960" y="4419853"/>
            <a:ext cx="7863841" cy="540155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Σχήμα Βάσης Δεδομένων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79A2B-E3A5-B36B-1B6F-5A072AB9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9" y="777240"/>
            <a:ext cx="3869526" cy="3254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FD57F-0404-22E6-50C3-349309EF3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126" y="777239"/>
            <a:ext cx="4606637" cy="3247679"/>
          </a:xfrm>
          <a:prstGeom prst="rect">
            <a:avLst/>
          </a:prstGeom>
        </p:spPr>
      </p:pic>
      <p:sp>
        <p:nvSpPr>
          <p:cNvPr id="10" name="Text 16">
            <a:extLst>
              <a:ext uri="{FF2B5EF4-FFF2-40B4-BE49-F238E27FC236}">
                <a16:creationId xmlns:a16="http://schemas.microsoft.com/office/drawing/2014/main" id="{69C51CC9-3D06-7528-F432-F7BC6F89F5B3}"/>
              </a:ext>
            </a:extLst>
          </p:cNvPr>
          <p:cNvSpPr/>
          <p:nvPr/>
        </p:nvSpPr>
        <p:spPr>
          <a:xfrm>
            <a:off x="822960" y="4581139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l-GR" sz="1400" b="1" dirty="0" err="1">
                <a:solidFill>
                  <a:srgbClr val="065A82"/>
                </a:solidFill>
              </a:rPr>
              <a:t>Computed</a:t>
            </a:r>
            <a:r>
              <a:rPr lang="el-GR" sz="2000" b="1" dirty="0"/>
              <a:t> </a:t>
            </a:r>
            <a:r>
              <a:rPr lang="el-GR" sz="1400" b="1" dirty="0" err="1">
                <a:solidFill>
                  <a:srgbClr val="065A82"/>
                </a:solidFill>
              </a:rPr>
              <a:t>Pattern</a:t>
            </a:r>
            <a:r>
              <a:rPr lang="el-GR" sz="1400" b="1" dirty="0">
                <a:solidFill>
                  <a:srgbClr val="065A82"/>
                </a:solidFill>
              </a:rPr>
              <a:t>: Προ-υπολογισμός του πλήθους σημείων για ακαριαίο φιλτράρισμα (π.χ. απόρριψη θορύβου) χωρίς ανάγνωση του πίνακα.</a:t>
            </a:r>
            <a:endParaRPr lang="en-US" sz="1400" b="1" dirty="0">
              <a:solidFill>
                <a:srgbClr val="065A82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0318ED-3DA0-54E1-764D-C2AEF053C1CD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754881" y="3733227"/>
            <a:ext cx="311776" cy="686626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Ευρετηρίαση &amp; Κατάτμηση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5661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Ευρετήρια (Indexes)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Compound Index: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ship_id + bucket_period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Ταχεία ανάκτηση συγκεκριμένου πλοίου σε χρονικό διάστημα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2dsphere Index: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points.location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Γεωχωρικά ερωτήματα (near, geoWithin)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Temporal Index: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bucket_period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Φιλτράρισμα χρονικών διαστημάτων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36592" y="914400"/>
            <a:ext cx="4023360" cy="35661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73152" cy="35661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Sharding Strategy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Shard Key: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ship_id (Hashed)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Πλεονεκτήματα: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Ομοιόμορφη κατανομή δεδομένων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Αποφυγή hotspots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• Παράλληλη επεξεργασία ερωτημάτων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Κλιμακωσιμότητα: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Προσθήκη νέων shards για διαχείριση αυξημένου φορτίου χωρίς αναδιάρθρωση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Υποστηριζόμενα Ερωτήματα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Γεωχωρικά Ερωτήματα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Εύρεση πλοίων εντός περιοχής (geoWithin) με φίλτρα καιρού και annotations. Χρήση 2dsphere index για βελτιστοποίηση.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2336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73152" cy="14630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0" name="Text 8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Συναθροιστικά Ερωτήματα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Καταμέτρηση τροχιών σε χωροχρονικό κουτί. Aggregation pipeline με $match, $unwind και $count για αποδοτική επεξεργασία.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8229600" cy="1463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Ανάλυση Ακραίων Φαινομένων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Αναζήτηση στιγμάτων με ακραία καιρικά φαινόμενα (άνεμος &gt; 15 m/s, ακραίες θερμοκρασίες). Το σύστημα λειτουργεί ως εργαλείο ιστορικής ανάλυσης καιρού και μελέτης της επίδρασης στην κίνηση πλοίων.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Παράδειγμα Query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ADF5E9-2A84-F7F2-726B-67E679829792}"/>
              </a:ext>
            </a:extLst>
          </p:cNvPr>
          <p:cNvSpPr txBox="1"/>
          <p:nvPr/>
        </p:nvSpPr>
        <p:spPr>
          <a:xfrm>
            <a:off x="530352" y="4532214"/>
            <a:ext cx="8156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 err="1">
                <a:solidFill>
                  <a:srgbClr val="86EFAC"/>
                </a:solidFill>
                <a:latin typeface="Consolas" pitchFamily="34" charset="0"/>
              </a:rPr>
              <a:t>db.trajectories_temporal.aggregate</a:t>
            </a:r>
            <a:r>
              <a:rPr lang="en-GB" sz="1100" dirty="0">
                <a:solidFill>
                  <a:srgbClr val="86EFAC"/>
                </a:solidFill>
                <a:latin typeface="Consolas" pitchFamily="34" charset="0"/>
              </a:rPr>
              <a:t>([{$group: {_id: "$static_data.vessel_type",</a:t>
            </a:r>
            <a:r>
              <a:rPr lang="en-GB" sz="1100" dirty="0" err="1">
                <a:solidFill>
                  <a:srgbClr val="86EFAC"/>
                </a:solidFill>
                <a:latin typeface="Consolas" pitchFamily="34" charset="0"/>
              </a:rPr>
              <a:t>total_positions</a:t>
            </a:r>
            <a:r>
              <a:rPr lang="en-GB" sz="1100" dirty="0">
                <a:solidFill>
                  <a:srgbClr val="86EFAC"/>
                </a:solidFill>
                <a:latin typeface="Consolas" pitchFamily="34" charset="0"/>
              </a:rPr>
              <a:t>: {$sum:"$</a:t>
            </a:r>
            <a:r>
              <a:rPr lang="en-GB" sz="1100" dirty="0" err="1">
                <a:solidFill>
                  <a:srgbClr val="86EFAC"/>
                </a:solidFill>
                <a:latin typeface="Consolas" pitchFamily="34" charset="0"/>
              </a:rPr>
              <a:t>points_count</a:t>
            </a:r>
            <a:r>
              <a:rPr lang="en-GB" sz="1100" dirty="0">
                <a:solidFill>
                  <a:srgbClr val="86EFAC"/>
                </a:solidFill>
                <a:latin typeface="Consolas" pitchFamily="34" charset="0"/>
              </a:rPr>
              <a:t>" }}},{ $sort: {</a:t>
            </a:r>
            <a:r>
              <a:rPr lang="en-GB" sz="1100" dirty="0" err="1">
                <a:solidFill>
                  <a:srgbClr val="86EFAC"/>
                </a:solidFill>
                <a:latin typeface="Consolas" pitchFamily="34" charset="0"/>
              </a:rPr>
              <a:t>total_positions</a:t>
            </a:r>
            <a:r>
              <a:rPr lang="en-GB" sz="1100" dirty="0">
                <a:solidFill>
                  <a:srgbClr val="86EFAC"/>
                </a:solidFill>
                <a:latin typeface="Consolas" pitchFamily="34" charset="0"/>
              </a:rPr>
              <a:t>: -1 } }])</a:t>
            </a:r>
            <a:endParaRPr lang="el-GR" sz="1100" dirty="0">
              <a:solidFill>
                <a:srgbClr val="86EFAC"/>
              </a:solidFill>
              <a:latin typeface="Consolas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Προηγμένη Ανάλυση: Δείκτης Tortuosity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Ορισμός &amp; Σκοπός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Ο δείκτης Tortuosity ποσοτικοποιεί την καμπυλότητα της πορείας ενός πλοίου. Ορίζεται ως το πηλίκο της πραγματικής απόστασης που διανύθηκε προς την ευθεία (ευκλείδεια) απόσταση μεταξύ αρχικού και τελικού σημείου. Στόχος είναι ο εντοπισμός πλοίων που κάνουν ελιγμούς λόγω κακοκαιρίας ή άλλων παραγόντων.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24688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73152" cy="24688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Μεθοδολογία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Υπολογισμός αποστάσεων με τύπο Haversine για ακριβείς μετρήσεις σε σφαιρική γεωμετρία. Χρήση του τελεστή $function της MongoDB για εκτέλεση κώδικα JavaScript εντός της βάσης, αποφεύγοντας τη μεταφορά μεγάλου όγκου δεδομένων στην εφαρμογή.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Πλεονεκτήματα: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Μείωση network overhead, ταχύτερη επεξεργασία, δυνατότητα σύνθετων υπολογισμών χωρίς εξωτερικά εργαλεία.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7CC3D0-8AA0-7136-5971-63955D7C3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797" y="2621280"/>
            <a:ext cx="4423735" cy="15295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Πειραματική Αξιολόγηση (Μέρος Α)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66255" y="735580"/>
            <a:ext cx="45886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Πείραμα 1: Κλιμακωσιμότητα Όγκου Δεδομένων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76596" y="3597795"/>
            <a:ext cx="4114800" cy="86021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3931920" cy="65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93B"/>
                </a:solidFill>
              </a:rPr>
              <a:t>Ο </a:t>
            </a:r>
            <a:r>
              <a:rPr lang="en-US" sz="1100" dirty="0" err="1">
                <a:solidFill>
                  <a:srgbClr val="1E293B"/>
                </a:solidFill>
              </a:rPr>
              <a:t>χρόνος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l-GR" sz="1100" dirty="0">
                <a:solidFill>
                  <a:srgbClr val="1E293B"/>
                </a:solidFill>
              </a:rPr>
              <a:t>φαίνεται να αυξάνεται γραμμικά παρόλα αυτά επηρεάζεται από το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GB" sz="1100" dirty="0">
                <a:solidFill>
                  <a:srgbClr val="1E293B"/>
                </a:solidFill>
              </a:rPr>
              <a:t>cache warming</a:t>
            </a:r>
            <a:r>
              <a:rPr lang="en-US" sz="1100" dirty="0">
                <a:solidFill>
                  <a:srgbClr val="1E293B"/>
                </a:solidFill>
              </a:rPr>
              <a:t>. </a:t>
            </a:r>
            <a:r>
              <a:rPr lang="el-GR" sz="1100" dirty="0">
                <a:solidFill>
                  <a:srgbClr val="1E293B"/>
                </a:solidFill>
              </a:rPr>
              <a:t>Οι διακυμάνσεις οφείλονται στο ότι τμήματα των δεδομένων έχουν ήδη φορτωθεί στη μνήμη (RAM), επιτρέποντας ταχύτερη ανάκτηση.</a:t>
            </a:r>
            <a:endParaRPr lang="en-US" sz="1100" dirty="0">
              <a:solidFill>
                <a:srgbClr val="1E293B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754880" y="750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Πείραμα 2: Γεωχωρική Επιλεκτικότητα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93672" y="3597795"/>
            <a:ext cx="4135583" cy="860213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 dirty="0"/>
          </a:p>
        </p:txBody>
      </p:sp>
      <p:sp>
        <p:nvSpPr>
          <p:cNvPr id="11" name="Text 7"/>
          <p:cNvSpPr/>
          <p:nvPr/>
        </p:nvSpPr>
        <p:spPr>
          <a:xfrm>
            <a:off x="4793672" y="3490961"/>
            <a:ext cx="4232563" cy="11116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Απ</a:t>
            </a:r>
            <a:r>
              <a:rPr lang="en-US" sz="1100" dirty="0" err="1">
                <a:solidFill>
                  <a:srgbClr val="1E293B"/>
                </a:solidFill>
              </a:rPr>
              <a:t>ότομη</a:t>
            </a:r>
            <a:r>
              <a:rPr lang="en-US" sz="1100" dirty="0">
                <a:solidFill>
                  <a:srgbClr val="1E293B"/>
                </a:solidFill>
              </a:rPr>
              <a:t> α</a:t>
            </a:r>
            <a:r>
              <a:rPr lang="en-US" sz="1100" dirty="0" err="1">
                <a:solidFill>
                  <a:srgbClr val="1E293B"/>
                </a:solidFill>
              </a:rPr>
              <a:t>ύξηση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χρόνου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λόγω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γεωμετρί</a:t>
            </a:r>
            <a:r>
              <a:rPr lang="en-US" sz="1100" dirty="0">
                <a:solidFill>
                  <a:srgbClr val="1E293B"/>
                </a:solidFill>
              </a:rPr>
              <a:t>ας (εμβαδόν</a:t>
            </a:r>
            <a:r>
              <a:rPr lang="el-GR" sz="1100" dirty="0">
                <a:solidFill>
                  <a:srgbClr val="1E293B"/>
                </a:solidFill>
              </a:rPr>
              <a:t> </a:t>
            </a:r>
            <a:r>
              <a:rPr lang="en-US" sz="1100" dirty="0">
                <a:solidFill>
                  <a:srgbClr val="1E293B"/>
                </a:solidFill>
              </a:rPr>
              <a:t>r²). </a:t>
            </a:r>
            <a:r>
              <a:rPr lang="en-US" sz="1100" dirty="0" err="1">
                <a:solidFill>
                  <a:srgbClr val="1E293B"/>
                </a:solidFill>
              </a:rPr>
              <a:t>Στο</a:t>
            </a:r>
            <a:r>
              <a:rPr lang="en-US" sz="1100" dirty="0">
                <a:solidFill>
                  <a:srgbClr val="1E293B"/>
                </a:solidFill>
              </a:rPr>
              <a:t> </a:t>
            </a:r>
            <a:r>
              <a:rPr lang="en-US" sz="1100" dirty="0" err="1">
                <a:solidFill>
                  <a:srgbClr val="1E293B"/>
                </a:solidFill>
              </a:rPr>
              <a:t>εύρος</a:t>
            </a:r>
            <a:r>
              <a:rPr lang="en-US" sz="1100" dirty="0">
                <a:solidFill>
                  <a:srgbClr val="1E293B"/>
                </a:solidFill>
              </a:rPr>
              <a:t> 5-15 km </a:t>
            </a:r>
            <a:r>
              <a:rPr lang="el-GR" sz="1100" dirty="0">
                <a:solidFill>
                  <a:srgbClr val="1E293B"/>
                </a:solidFill>
              </a:rPr>
              <a:t>ο χρόνος μειώνεται παρόλο που η περιοχή μεγαλώνει. Τα "βαριά" δεδομένα φορτώθηκαν στη RAM (</a:t>
            </a:r>
            <a:r>
              <a:rPr lang="el-GR" sz="1100" dirty="0" err="1">
                <a:solidFill>
                  <a:srgbClr val="1E293B"/>
                </a:solidFill>
              </a:rPr>
              <a:t>Hot</a:t>
            </a:r>
            <a:r>
              <a:rPr lang="el-GR" sz="1100" dirty="0">
                <a:solidFill>
                  <a:srgbClr val="1E293B"/>
                </a:solidFill>
              </a:rPr>
              <a:t> </a:t>
            </a:r>
            <a:r>
              <a:rPr lang="el-GR" sz="1100" dirty="0" err="1">
                <a:solidFill>
                  <a:srgbClr val="1E293B"/>
                </a:solidFill>
              </a:rPr>
              <a:t>Data</a:t>
            </a:r>
            <a:r>
              <a:rPr lang="el-GR" sz="1100" dirty="0">
                <a:solidFill>
                  <a:srgbClr val="1E293B"/>
                </a:solidFill>
              </a:rPr>
              <a:t>) από το προηγούμενο ερώτημα, εξαλείφοντας την καθυστέρηση του δίσκου (Disk I/O).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6C400-D467-94D4-CB46-27071E0F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74" y="1024544"/>
            <a:ext cx="2509118" cy="2458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59507-D894-91B9-0CF1-F14EFCF0D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544" y="1009900"/>
            <a:ext cx="2587895" cy="2587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Πειραματική Αξιολόγηση (Μέρος Β)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Πείραμα 3: Επίδραση Ευρετηρίασης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</a:rPr>
              <a:t>Σύγκριση Χρόνων Ανάκτησης Συγκεκριμένου Πλοίου (ship_id)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295C"/>
                </a:solidFill>
              </a:rPr>
              <a:t>Με Ευρετήριο: 0,0</a:t>
            </a:r>
            <a:r>
              <a:rPr lang="el-GR" sz="1400" b="1" dirty="0">
                <a:solidFill>
                  <a:srgbClr val="21295C"/>
                </a:solidFill>
              </a:rPr>
              <a:t>2</a:t>
            </a:r>
            <a:r>
              <a:rPr lang="en-US" sz="1400" b="1" dirty="0">
                <a:solidFill>
                  <a:srgbClr val="21295C"/>
                </a:solidFill>
              </a:rPr>
              <a:t> sec  |  Χωρίς Ευρετήριο (Full Scan): </a:t>
            </a:r>
            <a:r>
              <a:rPr lang="el-GR" sz="1400" b="1" dirty="0">
                <a:solidFill>
                  <a:srgbClr val="21295C"/>
                </a:solidFill>
              </a:rPr>
              <a:t>1</a:t>
            </a:r>
            <a:r>
              <a:rPr lang="en-US" sz="1400" b="1" dirty="0">
                <a:solidFill>
                  <a:srgbClr val="21295C"/>
                </a:solidFill>
              </a:rPr>
              <a:t>,</a:t>
            </a:r>
            <a:r>
              <a:rPr lang="el-GR" sz="1400" b="1" dirty="0">
                <a:solidFill>
                  <a:srgbClr val="21295C"/>
                </a:solidFill>
              </a:rPr>
              <a:t>54</a:t>
            </a:r>
            <a:r>
              <a:rPr lang="en-US" sz="1400" b="1" dirty="0">
                <a:solidFill>
                  <a:srgbClr val="21295C"/>
                </a:solidFill>
              </a:rPr>
              <a:t> sec  |  Βελτίωση: </a:t>
            </a:r>
            <a:r>
              <a:rPr lang="el-GR" sz="1400" b="1" dirty="0">
                <a:solidFill>
                  <a:srgbClr val="21295C"/>
                </a:solidFill>
              </a:rPr>
              <a:t>57</a:t>
            </a:r>
            <a:r>
              <a:rPr lang="en-US" sz="1400" b="1" dirty="0">
                <a:solidFill>
                  <a:srgbClr val="21295C"/>
                </a:solidFill>
              </a:rPr>
              <a:t>,</a:t>
            </a:r>
            <a:r>
              <a:rPr lang="el-GR" sz="1400" b="1" dirty="0">
                <a:solidFill>
                  <a:srgbClr val="21295C"/>
                </a:solidFill>
              </a:rPr>
              <a:t>2</a:t>
            </a:r>
            <a:r>
              <a:rPr lang="en-US" sz="1400" b="1" dirty="0">
                <a:solidFill>
                  <a:srgbClr val="21295C"/>
                </a:solidFill>
              </a:rPr>
              <a:t>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27432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9" name="Text 7"/>
          <p:cNvSpPr/>
          <p:nvPr/>
        </p:nvSpPr>
        <p:spPr>
          <a:xfrm>
            <a:off x="13716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Με Index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0,0</a:t>
            </a:r>
            <a:r>
              <a:rPr lang="el-GR" sz="1600" b="1" dirty="0">
                <a:solidFill>
                  <a:srgbClr val="FFFFFF"/>
                </a:solidFill>
              </a:rPr>
              <a:t>2</a:t>
            </a:r>
            <a:r>
              <a:rPr lang="en-US" sz="1600" b="1" dirty="0">
                <a:solidFill>
                  <a:srgbClr val="FFFFFF"/>
                </a:solidFill>
              </a:rPr>
              <a:t> sec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29200" y="2377440"/>
            <a:ext cx="2743200" cy="7315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1" name="Text 9"/>
          <p:cNvSpPr/>
          <p:nvPr/>
        </p:nvSpPr>
        <p:spPr>
          <a:xfrm>
            <a:off x="50292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Full Scan</a:t>
            </a:r>
            <a:endParaRPr lang="en-US" sz="1600" dirty="0"/>
          </a:p>
          <a:p>
            <a:pPr marL="0" indent="0" algn="ctr">
              <a:buNone/>
            </a:pPr>
            <a:r>
              <a:rPr lang="el-GR" sz="1600" b="1" dirty="0">
                <a:solidFill>
                  <a:srgbClr val="FFFFFF"/>
                </a:solidFill>
              </a:rPr>
              <a:t>1</a:t>
            </a:r>
            <a:r>
              <a:rPr lang="en-US" sz="1600" b="1" dirty="0">
                <a:solidFill>
                  <a:srgbClr val="FFFFFF"/>
                </a:solidFill>
              </a:rPr>
              <a:t>,</a:t>
            </a:r>
            <a:r>
              <a:rPr lang="el-GR" sz="1600" b="1" dirty="0">
                <a:solidFill>
                  <a:srgbClr val="FFFFFF"/>
                </a:solidFill>
              </a:rPr>
              <a:t>54</a:t>
            </a:r>
            <a:r>
              <a:rPr lang="en-US" sz="1600" b="1" dirty="0">
                <a:solidFill>
                  <a:srgbClr val="FFFFFF"/>
                </a:solidFill>
              </a:rPr>
              <a:t> sec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1554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73152" cy="15544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Ανάλυση &amp; Συμπεράσματα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Χωρίς ευρετήριο η βάση εκτελεί Full Collection Scan, σαρώνοντας σειριακά όλα τα έγγραφα της συλλογής. Η εφαρμογή Hashed Index στο πεδίο ship_id επιτρέπει άμεση πρόσβαση στα δεδομένα του πλοίου χωρίς σάρωση. Η επ</a:t>
            </a:r>
            <a:r>
              <a:rPr lang="en-US" sz="1200" dirty="0" err="1">
                <a:solidFill>
                  <a:srgbClr val="1E293B"/>
                </a:solidFill>
              </a:rPr>
              <a:t>ιτάχυνση</a:t>
            </a:r>
            <a:r>
              <a:rPr lang="en-US" sz="1200" dirty="0">
                <a:solidFill>
                  <a:srgbClr val="1E293B"/>
                </a:solidFill>
              </a:rPr>
              <a:t> </a:t>
            </a:r>
            <a:r>
              <a:rPr lang="el-GR" sz="1200" dirty="0">
                <a:solidFill>
                  <a:srgbClr val="1E293B"/>
                </a:solidFill>
              </a:rPr>
              <a:t>57,2</a:t>
            </a:r>
            <a:r>
              <a:rPr lang="en-US" sz="1200" dirty="0">
                <a:solidFill>
                  <a:srgbClr val="1E293B"/>
                </a:solidFill>
              </a:rPr>
              <a:t> φορές αποδεικνύει ότι η στρατηγική ευρετηρίασης αποτελεί απαραίτητη προϋπόθεση για την αποδοτική λειτουργία του συστήματος σε περιβάλλον Big Data. Χωρίς κατάλληλα ευρετήρια το σύστημα δεν είναι πρακτικά χρησιμοποιήσιμο σε πραγματικές συνθήκες.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2400" b="1" dirty="0">
                <a:solidFill>
                  <a:srgbClr val="FFFFFF"/>
                </a:solidFill>
              </a:rPr>
              <a:t>Αποδοτικότητα Αποθήκευσης &amp; Διαχείρισης Δεδομένων</a:t>
            </a:r>
            <a:endParaRPr lang="en-US" sz="2400" b="1" dirty="0">
              <a:solidFill>
                <a:srgbClr val="FFFFFF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1"/>
          <p:cNvSpPr/>
          <p:nvPr/>
        </p:nvSpPr>
        <p:spPr>
          <a:xfrm>
            <a:off x="4717419" y="914400"/>
            <a:ext cx="73152" cy="3840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l-GR" sz="1400" b="1" dirty="0">
                <a:solidFill>
                  <a:srgbClr val="065A82"/>
                </a:solidFill>
              </a:rPr>
              <a:t>Μηχανισμός Συμπίεσης (</a:t>
            </a:r>
            <a:r>
              <a:rPr lang="en-GB" sz="1400" b="1" dirty="0" err="1">
                <a:solidFill>
                  <a:srgbClr val="065A82"/>
                </a:solidFill>
              </a:rPr>
              <a:t>WiredTiger</a:t>
            </a:r>
            <a:r>
              <a:rPr lang="en-GB" sz="1400" b="1" dirty="0">
                <a:solidFill>
                  <a:srgbClr val="065A82"/>
                </a:solidFill>
              </a:rPr>
              <a:t>)</a:t>
            </a:r>
            <a:endParaRPr lang="en-US" sz="1400" b="1" dirty="0">
              <a:solidFill>
                <a:srgbClr val="065A82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956048" y="1594301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rgbClr val="1E293B"/>
                </a:solidFill>
              </a:rPr>
              <a:t>Επίτευξη υψηλού λόγου συμπίεσης (~6:1).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rgbClr val="1E293B"/>
                </a:solidFill>
              </a:rPr>
              <a:t>Ο λογικός όγκος των 2.04 GB (που περιλαμβάνει τα στίγματα και τα πλήρη δεδομένα καιρού) αποθηκεύεται σε μόλις 332 MB στον δίσκο.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200" dirty="0">
                <a:solidFill>
                  <a:srgbClr val="1E293B"/>
                </a:solidFill>
              </a:rPr>
              <a:t>Όφελος: Μειωμένο κόστος αποθήκευσης και λιγότερες απαιτήσεις I/O (ταχύτητα ανάγνωσης).  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47795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Bucket Configuration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956048" y="3228791"/>
            <a:ext cx="3657600" cy="12233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100" dirty="0">
                <a:solidFill>
                  <a:srgbClr val="1E293B"/>
                </a:solidFill>
              </a:rPr>
              <a:t>Μέσω του </a:t>
            </a:r>
            <a:r>
              <a:rPr lang="el-GR" sz="1100" dirty="0" err="1">
                <a:solidFill>
                  <a:srgbClr val="1E293B"/>
                </a:solidFill>
              </a:rPr>
              <a:t>Bucket</a:t>
            </a:r>
            <a:r>
              <a:rPr lang="el-GR" sz="1100" dirty="0">
                <a:solidFill>
                  <a:srgbClr val="1E293B"/>
                </a:solidFill>
              </a:rPr>
              <a:t> </a:t>
            </a:r>
            <a:r>
              <a:rPr lang="el-GR" sz="1100" dirty="0" err="1">
                <a:solidFill>
                  <a:srgbClr val="1E293B"/>
                </a:solidFill>
              </a:rPr>
              <a:t>Pattern</a:t>
            </a:r>
            <a:r>
              <a:rPr lang="el-GR" sz="1100" dirty="0">
                <a:solidFill>
                  <a:srgbClr val="1E293B"/>
                </a:solidFill>
              </a:rPr>
              <a:t>, τα μεμονωμένα στίγματα ομαδοποιήθηκαν.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100" dirty="0">
                <a:solidFill>
                  <a:srgbClr val="1E293B"/>
                </a:solidFill>
              </a:rPr>
              <a:t>Αποτέλεσμα: Δραστική μείωση του πλήθους των εγγραφών από ~8 εκατομμύρια (</a:t>
            </a:r>
            <a:r>
              <a:rPr lang="el-GR" sz="1100" dirty="0" err="1">
                <a:solidFill>
                  <a:srgbClr val="1E293B"/>
                </a:solidFill>
              </a:rPr>
              <a:t>raw</a:t>
            </a:r>
            <a:r>
              <a:rPr lang="el-GR" sz="1100" dirty="0">
                <a:solidFill>
                  <a:srgbClr val="1E293B"/>
                </a:solidFill>
              </a:rPr>
              <a:t> </a:t>
            </a:r>
            <a:r>
              <a:rPr lang="el-GR" sz="1100" dirty="0" err="1">
                <a:solidFill>
                  <a:srgbClr val="1E293B"/>
                </a:solidFill>
              </a:rPr>
              <a:t>points</a:t>
            </a:r>
            <a:r>
              <a:rPr lang="el-GR" sz="1100" dirty="0">
                <a:solidFill>
                  <a:srgbClr val="1E293B"/>
                </a:solidFill>
              </a:rPr>
              <a:t>) σε μόλις 122.366 έγγραφα (</a:t>
            </a:r>
            <a:r>
              <a:rPr lang="el-GR" sz="1100" dirty="0" err="1">
                <a:solidFill>
                  <a:srgbClr val="1E293B"/>
                </a:solidFill>
              </a:rPr>
              <a:t>buckets</a:t>
            </a:r>
            <a:r>
              <a:rPr lang="el-GR" sz="1100" dirty="0">
                <a:solidFill>
                  <a:srgbClr val="1E293B"/>
                </a:solidFill>
              </a:rPr>
              <a:t>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1100" dirty="0">
                <a:solidFill>
                  <a:srgbClr val="1E293B"/>
                </a:solidFill>
              </a:rPr>
              <a:t>Όφελος: Ελαχιστοποίηση του μεγέθους των ευρετηρίων (</a:t>
            </a:r>
            <a:r>
              <a:rPr lang="el-GR" sz="1100" dirty="0" err="1">
                <a:solidFill>
                  <a:srgbClr val="1E293B"/>
                </a:solidFill>
              </a:rPr>
              <a:t>Indexes</a:t>
            </a:r>
            <a:r>
              <a:rPr lang="el-GR" sz="1100" dirty="0">
                <a:solidFill>
                  <a:srgbClr val="1E293B"/>
                </a:solidFill>
              </a:rPr>
              <a:t>) στη RAM και ταχύτερη διαχείριση της βάσης</a:t>
            </a:r>
            <a:r>
              <a:rPr lang="en-US" sz="1100" dirty="0">
                <a:solidFill>
                  <a:srgbClr val="1E293B"/>
                </a:solidFill>
              </a:rPr>
              <a:t>.</a:t>
            </a:r>
            <a:r>
              <a:rPr lang="el-GR" sz="1100" dirty="0">
                <a:solidFill>
                  <a:srgbClr val="1E293B"/>
                </a:solidFill>
              </a:rPr>
              <a:t> </a:t>
            </a:r>
            <a:endParaRPr lang="en-US" sz="11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089196B-6213-EB11-76FC-7747A47020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95" y="1299117"/>
            <a:ext cx="4641545" cy="27849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CE2B43-26FD-AFD0-7C17-29B1D85D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A3ACC0-01AB-623E-403C-5470BD9E3C58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5E02FD3-B9BA-8AB4-5CAC-862BAA1AFEA6}"/>
              </a:ext>
            </a:extLst>
          </p:cNvPr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Τεχνικά Χαρακτηριστικά Υλοποίησης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E94D63-614E-AD86-15C7-AA590DC55447}"/>
              </a:ext>
            </a:extLst>
          </p:cNvPr>
          <p:cNvSpPr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7852054-90E7-E8E7-41D8-F3381AE46345}"/>
              </a:ext>
            </a:extLst>
          </p:cNvPr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A25B29A8-6091-E56E-37DA-EA105CB4E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EFF6AE8-0F0F-5906-23B7-62B942A4092D}"/>
              </a:ext>
            </a:extLst>
          </p:cNvPr>
          <p:cNvSpPr/>
          <p:nvPr/>
        </p:nvSpPr>
        <p:spPr>
          <a:xfrm>
            <a:off x="128016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Περιβάλλον Docker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FA774CA-427A-C531-761B-9C571D442173}"/>
              </a:ext>
            </a:extLst>
          </p:cNvPr>
          <p:cNvSpPr/>
          <p:nvPr/>
        </p:nvSpPr>
        <p:spPr>
          <a:xfrm>
            <a:off x="640080" y="16459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Απομονωμένο container με MongoDB 7.0 και Python 3.10. Διασφάλιση αναπαραγωγιμότητας ανεξάρτητα από το λειτουργικό σύστημα του χρήστη.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0AA2970-5D3D-1D36-F509-A585E17E3FE2}"/>
              </a:ext>
            </a:extLst>
          </p:cNvPr>
          <p:cNvSpPr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Εξαρτήσεις &amp; Βιβλιοθήκες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5D5CD9-3B83-3947-C55D-CB02649EDA69}"/>
              </a:ext>
            </a:extLst>
          </p:cNvPr>
          <p:cNvSpPr/>
          <p:nvPr/>
        </p:nvSpPr>
        <p:spPr>
          <a:xfrm>
            <a:off x="640080" y="2697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pandas: Επεξεργασία tabular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geopandas: Χωρική ανάλυση shapefiles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pymongo: MongoDB driver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rtree: R-tree spatial indexing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scipy: Επιστημονικοί υπολογισμοί</a:t>
            </a: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D9A5222-7FAA-4F05-8E44-5E6B146B2AD0}"/>
              </a:ext>
            </a:extLst>
          </p:cNvPr>
          <p:cNvSpPr/>
          <p:nvPr/>
        </p:nvSpPr>
        <p:spPr>
          <a:xfrm>
            <a:off x="64008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Memory Management</a:t>
            </a:r>
            <a:endParaRPr lang="en-US" sz="14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6340DC9A-CF46-2604-02BF-62246248EDE2}"/>
              </a:ext>
            </a:extLst>
          </p:cNvPr>
          <p:cNvSpPr/>
          <p:nvPr/>
        </p:nvSpPr>
        <p:spPr>
          <a:xfrm>
            <a:off x="640080" y="4160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Chunking strategy </a:t>
            </a:r>
            <a:r>
              <a:rPr lang="en-US" sz="1100" dirty="0" err="1">
                <a:solidFill>
                  <a:srgbClr val="1E293B"/>
                </a:solidFill>
              </a:rPr>
              <a:t>με</a:t>
            </a:r>
            <a:r>
              <a:rPr lang="en-US" sz="1100" dirty="0">
                <a:solidFill>
                  <a:srgbClr val="1E293B"/>
                </a:solidFill>
              </a:rPr>
              <a:t> 10</a:t>
            </a:r>
            <a:r>
              <a:rPr lang="el-GR" sz="1100" dirty="0">
                <a:solidFill>
                  <a:srgbClr val="1E293B"/>
                </a:solidFill>
              </a:rPr>
              <a:t>.</a:t>
            </a:r>
            <a:r>
              <a:rPr lang="en-US" sz="1100" dirty="0">
                <a:solidFill>
                  <a:srgbClr val="1E293B"/>
                </a:solidFill>
              </a:rPr>
              <a:t>000 εγγραφές ανά batch για αποφυγή OOM errors. Batch insertion στη MongoDB για μείωση network roundtrips.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BF8F152-1718-A1E1-F5AE-CEEDF29E0AC1}"/>
              </a:ext>
            </a:extLst>
          </p:cNvPr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93DFDFD-302B-FACD-C0DE-FADD3FFD0C2A}"/>
              </a:ext>
            </a:extLst>
          </p:cNvPr>
          <p:cNvSpPr/>
          <p:nvPr/>
        </p:nvSpPr>
        <p:spPr>
          <a:xfrm>
            <a:off x="4663440" y="914400"/>
            <a:ext cx="73152" cy="3840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l-GR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394C726D-3F46-AF40-456D-FF0BC97F7C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97280"/>
            <a:ext cx="457200" cy="45720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D4633318-F8B2-7CB2-24E8-44F613C132F9}"/>
              </a:ext>
            </a:extLst>
          </p:cNvPr>
          <p:cNvSpPr/>
          <p:nvPr/>
        </p:nvSpPr>
        <p:spPr>
          <a:xfrm>
            <a:off x="548640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MongoDB Configuration</a:t>
            </a:r>
            <a:endParaRPr lang="en-US" sz="16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46340F2-001C-E6BA-874B-E8B8CDFC078A}"/>
              </a:ext>
            </a:extLst>
          </p:cNvPr>
          <p:cNvSpPr/>
          <p:nvPr/>
        </p:nvSpPr>
        <p:spPr>
          <a:xfrm>
            <a:off x="4846320" y="16459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WiredTiger storage engine με compression. Write concern: majority για data durability. Read preference: primaryPreferred για balance μεταξύ consistency και performance.</a:t>
            </a:r>
            <a:endParaRPr lang="en-US" sz="12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45F8CD08-2B19-994B-F290-FB81E819FBB5}"/>
              </a:ext>
            </a:extLst>
          </p:cNvPr>
          <p:cNvSpPr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Bucket Configuration</a:t>
            </a:r>
            <a:endParaRPr lang="en-US" sz="14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FAB14372-697E-AA87-1A17-B319656292D4}"/>
              </a:ext>
            </a:extLst>
          </p:cNvPr>
          <p:cNvSpPr/>
          <p:nvPr/>
        </p:nvSpPr>
        <p:spPr>
          <a:xfrm>
            <a:off x="4846320" y="2834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Χρονικό παράθυρο: 6 ώρες. Μέγιστος αριθμός σημείων: 1</a:t>
            </a:r>
            <a:r>
              <a:rPr lang="el-GR" sz="1100" dirty="0">
                <a:solidFill>
                  <a:srgbClr val="1E293B"/>
                </a:solidFill>
              </a:rPr>
              <a:t>.</a:t>
            </a:r>
            <a:r>
              <a:rPr lang="en-US" sz="1100" dirty="0">
                <a:solidFill>
                  <a:srgbClr val="1E293B"/>
                </a:solidFill>
              </a:rPr>
              <a:t>000. Στόχος: Balance μεταξύ granularity και I/O efficiency.</a:t>
            </a:r>
            <a:endParaRPr lang="en-US" sz="11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FD10555-7A91-BAE6-1E42-C40F07ED1EDB}"/>
              </a:ext>
            </a:extLst>
          </p:cNvPr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Όγκος Δεδομένων</a:t>
            </a:r>
            <a:endParaRPr lang="en-US" sz="14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0300961-8BFF-722F-F87A-668B046568DA}"/>
              </a:ext>
            </a:extLst>
          </p:cNvPr>
          <p:cNvSpPr/>
          <p:nvPr/>
        </p:nvSpPr>
        <p:spPr>
          <a:xfrm>
            <a:off x="4846320" y="38404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Raw AIS data: ~937 MB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Weather shapefiles: ~</a:t>
            </a:r>
            <a:r>
              <a:rPr lang="el-GR" sz="1100" dirty="0">
                <a:solidFill>
                  <a:srgbClr val="1E293B"/>
                </a:solidFill>
              </a:rPr>
              <a:t>5,26</a:t>
            </a:r>
            <a:r>
              <a:rPr lang="en-US" sz="1100" dirty="0">
                <a:solidFill>
                  <a:srgbClr val="1E293B"/>
                </a:solidFill>
              </a:rPr>
              <a:t> MB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Enriched DB size: ~</a:t>
            </a:r>
            <a:r>
              <a:rPr lang="el-GR" sz="1100" dirty="0">
                <a:solidFill>
                  <a:srgbClr val="1E293B"/>
                </a:solidFill>
              </a:rPr>
              <a:t>2</a:t>
            </a:r>
            <a:r>
              <a:rPr lang="en-US" sz="1100" dirty="0">
                <a:solidFill>
                  <a:srgbClr val="1E293B"/>
                </a:solidFill>
              </a:rPr>
              <a:t> GB</a:t>
            </a:r>
            <a:r>
              <a:rPr lang="el-GR" sz="1100" dirty="0">
                <a:solidFill>
                  <a:srgbClr val="1E293B"/>
                </a:solidFill>
              </a:rPr>
              <a:t> (</a:t>
            </a:r>
            <a:r>
              <a:rPr lang="en-US" sz="1100" dirty="0">
                <a:solidFill>
                  <a:srgbClr val="1E293B"/>
                </a:solidFill>
              </a:rPr>
              <a:t>storage + index  size 0,4GB)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• Total documents: ~</a:t>
            </a:r>
            <a:r>
              <a:rPr lang="el-GR" sz="1100" dirty="0">
                <a:solidFill>
                  <a:srgbClr val="1E293B"/>
                </a:solidFill>
              </a:rPr>
              <a:t>122.336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34408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Συμπεράσματα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914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Υπεροχή του Bucket Pattern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97280" y="12344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Καθοριστική επιλογή σχεδιασμού που επέτρεψε σταθερή διαχείριση εγγραφών στον χρόνο. Μείωση I/O operations και index size οδήγησε σε μικρότερη καθυστέρηση ανάγνωσης.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74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Ακρίβεια Χωροχρονικής Συσχέτισης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1945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Αλγόριθμος τριών σταδίων για ακριβή αντιστοίχιση AIS-Weather. Απλή γεωγραφική σύνδεση αποδείχθηκε ανεπαρκής για κινούμενα αντικείμενα.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8036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8346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65A82"/>
                </a:solidFill>
              </a:rPr>
              <a:t>Γρ</a:t>
            </a:r>
            <a:r>
              <a:rPr lang="en-US" sz="1600" b="1" dirty="0">
                <a:solidFill>
                  <a:srgbClr val="065A82"/>
                </a:solidFill>
              </a:rPr>
              <a:t>αμμική Κλιμακωσιμότητα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09728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H </a:t>
            </a:r>
            <a:r>
              <a:rPr lang="el-GR" sz="1300" dirty="0">
                <a:solidFill>
                  <a:srgbClr val="1E293B"/>
                </a:solidFill>
              </a:rPr>
              <a:t>α</a:t>
            </a:r>
            <a:r>
              <a:rPr lang="en-US" sz="1300" dirty="0">
                <a:solidFill>
                  <a:srgbClr val="1E293B"/>
                </a:solidFill>
              </a:rPr>
              <a:t>π</a:t>
            </a:r>
            <a:r>
              <a:rPr lang="en-US" sz="1300" dirty="0" err="1">
                <a:solidFill>
                  <a:srgbClr val="1E293B"/>
                </a:solidFill>
              </a:rPr>
              <a:t>όδοση</a:t>
            </a:r>
            <a:r>
              <a:rPr lang="en-US" sz="1300" dirty="0">
                <a:solidFill>
                  <a:srgbClr val="1E293B"/>
                </a:solidFill>
              </a:rPr>
              <a:t> </a:t>
            </a:r>
            <a:r>
              <a:rPr lang="el-GR" sz="1300" dirty="0">
                <a:solidFill>
                  <a:srgbClr val="1E293B"/>
                </a:solidFill>
              </a:rPr>
              <a:t>δείχνει να </a:t>
            </a:r>
            <a:r>
              <a:rPr lang="en-US" sz="1300" dirty="0" err="1">
                <a:solidFill>
                  <a:srgbClr val="1E293B"/>
                </a:solidFill>
              </a:rPr>
              <a:t>μετ</a:t>
            </a:r>
            <a:r>
              <a:rPr lang="en-US" sz="1300" dirty="0">
                <a:solidFill>
                  <a:srgbClr val="1E293B"/>
                </a:solidFill>
              </a:rPr>
              <a:t>αβάλλεται γραμμικά με τον όγκο δεδομένων, όχι εκθετικά. Η αρχιτεκτονική (Sharding + Indexing) κλιμακώνεται σε μεγαλύτερα datasets χωρίς κατάρρευση.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7947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Κρισιμότητα Ευρετηρίασης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97280" y="4114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l-GR" sz="1300" dirty="0">
                <a:solidFill>
                  <a:srgbClr val="1E293B"/>
                </a:solidFill>
              </a:rPr>
              <a:t>57,2</a:t>
            </a:r>
            <a:r>
              <a:rPr lang="en-US" sz="1300" dirty="0">
                <a:solidFill>
                  <a:srgbClr val="1E293B"/>
                </a:solidFill>
              </a:rPr>
              <a:t>x ταχύτερη ανάκτηση με indexes. Απαραίτητη προϋπόθεση για Big Data - χωρίς ευρετήρια το σύστημα δεν είναι πρακτικά χρησιμοποιήσιμο.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Μελλοντικές Επεκτάσεις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</a:rPr>
              <a:t>Real-time Streaming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37160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Apache Kafka + Spark Streaming για live monitoring AIS σημάτων και άμεσο εμπλουτισμό με καιρικά δεδομένα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</a:rPr>
              <a:t>Machine Learning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486400" y="1783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Πρόβλεψη ETA με βάση καιρικές συνθήκες και Anomaly Detection για εντοπισμό ύποπτων μοτίβων κίνησης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65176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</a:rPr>
              <a:t>Visualization Dashboard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371600" y="2971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Διαδραστική Web UI με Leaflet/Mapbox για χαρτογράφηση τροχιών και οπτικοποίηση μετεωρολογικών φαινομένων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65176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864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</a:rPr>
              <a:t>Distributed Computing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486400" y="2971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Apache Spark για Big Data Analytics πολλών ετών. Παράλληλη επεξεργασία μέσω cluster computing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 err="1">
                <a:solidFill>
                  <a:srgbClr val="CADCFC"/>
                </a:solidFill>
              </a:rPr>
              <a:t>Ευχ</a:t>
            </a:r>
            <a:r>
              <a:rPr lang="en-US" sz="1800" i="1" dirty="0">
                <a:solidFill>
                  <a:srgbClr val="CADCFC"/>
                </a:solidFill>
              </a:rPr>
              <a:t>αριστ</a:t>
            </a:r>
            <a:r>
              <a:rPr lang="el-GR" sz="1800" i="1" dirty="0">
                <a:solidFill>
                  <a:srgbClr val="CADCFC"/>
                </a:solidFill>
              </a:rPr>
              <a:t>ώ</a:t>
            </a:r>
            <a:r>
              <a:rPr lang="en-US" sz="1800" i="1" dirty="0">
                <a:solidFill>
                  <a:srgbClr val="CADCFC"/>
                </a:solidFill>
              </a:rPr>
              <a:t> για την προσοχή σας!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412602-8879-01D6-3306-9835845B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5ADBD0-A8F4-DB11-4318-BD12D140187A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l-G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C2805-4D0A-24A6-6D07-EA29AF9C31BC}"/>
              </a:ext>
            </a:extLst>
          </p:cNvPr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l-GR" sz="2800" b="1" dirty="0">
                <a:solidFill>
                  <a:srgbClr val="FFFFFF"/>
                </a:solidFill>
              </a:rPr>
              <a:t>Αναλυτικά Αποτελέσματα Ερωτημάτων</a:t>
            </a:r>
            <a:endParaRPr lang="en-US" sz="2800" b="1" dirty="0">
              <a:solidFill>
                <a:srgbClr val="FFFFFF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F8E4698-0165-C626-AA54-B32756E2A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07" y="777240"/>
            <a:ext cx="2048427" cy="318008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406CF09-1484-6451-A9A4-37D5877CC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271" y="777240"/>
            <a:ext cx="4207937" cy="179451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36C4FF7-7BDC-7977-3A2F-C1219BE9C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393" y="2708910"/>
            <a:ext cx="4355692" cy="5898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5AAEF2-67D7-A7F0-933B-BFAB7EF31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7368" y="3345323"/>
            <a:ext cx="3048000" cy="6692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D49D7E-775E-632A-BF9E-E8872C4188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393" y="4208062"/>
            <a:ext cx="4445162" cy="79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89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1439</Words>
  <Application>Microsoft Office PowerPoint</Application>
  <PresentationFormat>On-screen Show (16:9)</PresentationFormat>
  <Paragraphs>169</Paragraphs>
  <Slides>16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Σχεδιασμός και Υλοποίηση Κλιμακώσιμου Συστήματος Διαχείρισης Χωροχρονικών Ναυτιλιακών Δεδομένων (AIS) στη MongoDB</dc:title>
  <dc:subject>PptxGenJS Presentation</dc:subject>
  <dc:creator>Χρήστος Τσάμης, Βασίλης Σούτος, Κλεοπάτρα</dc:creator>
  <cp:lastModifiedBy>Chris S</cp:lastModifiedBy>
  <cp:revision>14</cp:revision>
  <dcterms:created xsi:type="dcterms:W3CDTF">2026-02-03T14:34:07Z</dcterms:created>
  <dcterms:modified xsi:type="dcterms:W3CDTF">2026-10-22T19:34:02Z</dcterms:modified>
</cp:coreProperties>
</file>